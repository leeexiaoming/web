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lab.research.google.com/github/leeexiaoming/web/blob/master/teaching/kmeans_clustering_iris_demo.ipynb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4754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1">
                <a:solidFill>
                  <a:srgbClr val="FF6C6C"/>
                </a:solidFill>
                <a:latin typeface="Aptos"/>
              </a:defRPr>
            </a:pPr>
            <a:r>
              <a:t>HANDS-ON TEACHING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955279" cy="1600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K-means Clustering</a:t>
            </a:r>
            <a:br/>
            <a:r>
              <a:t>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063240"/>
            <a:ext cx="8686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0">
                <a:solidFill>
                  <a:srgbClr val="D2D7DC"/>
                </a:solidFill>
                <a:latin typeface="Aptos"/>
              </a:defRPr>
            </a:pPr>
            <a:r>
              <a:t>Iris dataset  •  Step-by-step code  •  Google Colab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440680"/>
            <a:ext cx="3657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Dr. Jiahui 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779008"/>
            <a:ext cx="5029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0">
                <a:solidFill>
                  <a:srgbClr val="BEC5CB"/>
                </a:solidFill>
                <a:latin typeface="Aptos"/>
              </a:defRPr>
            </a:pPr>
            <a:r>
              <a:t>Information Technology &amp; Business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What will we do?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325880"/>
            <a:ext cx="502920" cy="502920"/>
          </a:xfrm>
          <a:prstGeom prst="ellipse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35024"/>
            <a:ext cx="50292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307592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1F252B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307592"/>
            <a:ext cx="80467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0">
                <a:solidFill>
                  <a:srgbClr val="5F6770"/>
                </a:solidFill>
                <a:latin typeface="Aptos"/>
              </a:defRPr>
            </a:pPr>
            <a:r>
              <a:t>Read the Iris CSV into a pandas DataFrame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267712"/>
            <a:ext cx="502920" cy="502920"/>
          </a:xfrm>
          <a:prstGeom prst="ellipse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76856"/>
            <a:ext cx="50292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49424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1F252B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249424"/>
            <a:ext cx="80467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0">
                <a:solidFill>
                  <a:srgbClr val="5F6770"/>
                </a:solidFill>
                <a:latin typeface="Aptos"/>
              </a:defRPr>
            </a:pPr>
            <a:r>
              <a:t>Select four measurements and scale them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209544"/>
            <a:ext cx="502920" cy="502920"/>
          </a:xfrm>
          <a:prstGeom prst="ellipse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18687"/>
            <a:ext cx="50292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91256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1F252B"/>
                </a:solidFill>
                <a:latin typeface="Aptos"/>
              </a:defRPr>
            </a:pPr>
            <a:r>
              <a:t>Cluster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191256"/>
            <a:ext cx="80467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0">
                <a:solidFill>
                  <a:srgbClr val="5F6770"/>
                </a:solidFill>
                <a:latin typeface="Aptos"/>
              </a:defRPr>
            </a:pPr>
            <a:r>
              <a:t>Fit K-means with K = 3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151376"/>
            <a:ext cx="502920" cy="502920"/>
          </a:xfrm>
          <a:prstGeom prst="ellipse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50292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133088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1F252B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133088"/>
            <a:ext cx="80467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0">
                <a:solidFill>
                  <a:srgbClr val="5F6770"/>
                </a:solidFill>
                <a:latin typeface="Aptos"/>
              </a:defRPr>
            </a:pPr>
            <a:r>
              <a:t>Review cluster size, means, and WSSE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093208"/>
            <a:ext cx="502920" cy="502920"/>
          </a:xfrm>
          <a:prstGeom prst="ellipse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02352"/>
            <a:ext cx="50292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074920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1F252B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5074920"/>
            <a:ext cx="80467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0">
                <a:solidFill>
                  <a:srgbClr val="5F6770"/>
                </a:solidFill>
                <a:latin typeface="Aptos"/>
              </a:defRPr>
            </a:pPr>
            <a:r>
              <a:t>Use the elbow plot, visualization, and species labels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1 · FRAME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Business problem and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4630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1">
                <a:solidFill>
                  <a:srgbClr val="CC0000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84632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400" b="1">
                <a:solidFill>
                  <a:srgbClr val="1F252B"/>
                </a:solidFill>
                <a:latin typeface="Aptos"/>
              </a:defRPr>
            </a:pPr>
            <a:r>
              <a:t>Identify groups of iris flowers from their sepal and petal measurements.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4846320" cy="822960"/>
          </a:xfrm>
          <a:prstGeom prst="roundRect">
            <a:avLst/>
          </a:prstGeom>
          <a:solidFill>
            <a:srgbClr val="FFF4F4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600" b="1">
                <a:solidFill>
                  <a:srgbClr val="CC0000"/>
                </a:solidFill>
                <a:latin typeface="Aptos"/>
              </a:defRPr>
            </a:pPr>
            <a:r>
              <a:t>K-means is unsupervised: SPECIES is not used to create the clusters.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06440" y="1325880"/>
          <a:ext cx="57150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</a:tblGrid>
              <a:tr h="607422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Column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RowNames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Observation ID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SPECIES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Known label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Flower species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SEPAL.L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Sepal length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SEPAL.W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Sepal width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PETAL.L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Petal length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07428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PETAL.W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Petal width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2 · SET UP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Import the libraries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1  import io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2  import matplotlib.pyplot as plt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3  import pandas as pd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4  from sklearn.cluster import KMeans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5  from sklearn.preprocessing import MinMaxScaler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Reads an uploaded file stored as bytes.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  Creates charts.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3  Loads and summarizes tabular data.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4  Imports the K-means algorithm.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5  Imports 0–1 feature scaling.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3 · LOAD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Choose how to load the 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1  raw_url = "https://raw.githubusercontent.com/.../iris_csv.csv"</a:t>
            </a:r>
          </a:p>
          <a:p>
            <a:pPr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2  UPLOAD_FILE = False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Stores the direct GitHub address of the CSV.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  False loads from GitHub. Change to True to upload a file in Colab.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3 · LOAD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Load from GitHub or upload a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1  if UPLOAD_FILE:</a:t>
            </a:r>
          </a:p>
          <a:p>
            <a:pPr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2      from google.colab import files</a:t>
            </a:r>
          </a:p>
          <a:p>
            <a:pPr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3      uploaded = files.upload()</a:t>
            </a:r>
          </a:p>
          <a:p>
            <a:pPr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4      df = pd.read_csv(</a:t>
            </a:r>
          </a:p>
          <a:p>
            <a:pPr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5          io.BytesIO(next(iter(uploaded.values())))</a:t>
            </a:r>
          </a:p>
          <a:p>
            <a:pPr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6      )</a:t>
            </a:r>
          </a:p>
          <a:p>
            <a:pPr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7  else:</a:t>
            </a:r>
          </a:p>
          <a:p>
            <a:pPr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8      df = pd.read_csv(raw_url)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1–3  When True, Colab displays a Choose Files button.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4–6  Selects the uploaded bytes and converts them into a DataFrame named df.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7–8  Otherwise, pandas reads the CSV from GitHub.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3 · LOAD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Check the loaded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1  print(f"Dataset shape: {df.shape[0]} rows × {df.shape[1]} columns")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2  df.head()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3  df.describe(include="all").round(2)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Shows the number of rows and columns: 150 × 6.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  Displays the first five observations.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3  Summarizes numerical and categorical columns; values are rounded to two decimals.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4 · SELECT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Select the clustering variables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1  feature_columns = ["SEPAL.L", "SEPAL.W",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2                     "PETAL.L", "PETAL.W"]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3  X = df[feature_columns]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4  X.head()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1–2  Lists the four measurements used to compare flowers.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3  Creates X, the feature table used by K-means.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4  Checks the first five rows of X.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5 · PREPARE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Check and scale the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1  print(X.isna().sum())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2  scaler = MinMaxScaler()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3  X_scaled = scaler.fit_transform(X)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Counts missing values in each feature. K-means needs complete numerical data.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  Creates a scaler that maps every feature to the range 0–1.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3  Learns each feature's minimum and maximum, then scales X.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6 · RUN K-MEANS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Fit K-means with K =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1  kmeans = KMeans(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2      n_clusters=3,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3      random_state=10,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4      n_init=10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5  )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6  df["Cluster"] = kmeans.fit_predict(X_scaled)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Creates the K-means model.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  Requests three clusters.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3  Makes the result reproducible.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4  Tries ten starting solutions and keeps the best.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6  Fits the model and saves each flower's cluster number.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7 · INTERPRET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Summarize each cluster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1  cluster_summary = df.groupby("Cluster")[feature_columns].mean().round(2)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2  cluster_summary.insert(0, "Count", df.groupby("Cluster").size())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3  display(cluster_summary)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4  print(f"WSSE: {kmeans.inertia_:.4f}")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Groups rows by cluster and calculates each measurement's mean.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  Adds the number of flowers in each cluster.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3  Displays the completed summary table.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4  Reports within-cluster sum of squared errors.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7 · INTERPRET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Cluster output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17320"/>
          <a:ext cx="7406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731520"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Count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SEPAL.L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SEPAL.W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PETAL.L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PETAL.W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</a:tr>
              <a:tr h="731520"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Cluster 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39.0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6.85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3.08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5.7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2.08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Cluster 1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50.0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5.01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3.43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1.46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0.25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</a:tr>
              <a:tr h="731520"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Cluster 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61.0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5.89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2.74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4.4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1.42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49640" y="1600200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700" b="1">
                <a:solidFill>
                  <a:srgbClr val="CC0000"/>
                </a:solidFill>
                <a:latin typeface="Aptos"/>
              </a:defRPr>
            </a:pPr>
            <a:r>
              <a:t>WSSE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993392"/>
            <a:ext cx="237744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3400" b="1">
                <a:solidFill>
                  <a:srgbClr val="1F252B"/>
                </a:solidFill>
                <a:latin typeface="Aptos"/>
              </a:defRPr>
            </a:pPr>
            <a:r>
              <a:t>6.9822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788920"/>
            <a:ext cx="2514600" cy="1325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0">
                <a:solidFill>
                  <a:srgbClr val="5F6770"/>
                </a:solidFill>
                <a:latin typeface="Aptos"/>
              </a:defRPr>
            </a:pPr>
            <a:r>
              <a:t>Lower WSSE means observations are closer to their assigned centers. Compare WSSE only when using the same scaled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800600"/>
            <a:ext cx="10789920" cy="731520"/>
          </a:xfrm>
          <a:prstGeom prst="roundRect">
            <a:avLst/>
          </a:prstGeom>
          <a:solidFill>
            <a:srgbClr val="FFF4F4"/>
          </a:solidFill>
          <a:ln>
            <a:solidFill>
              <a:srgbClr val="2D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600" b="1">
                <a:solidFill>
                  <a:srgbClr val="2D64A0"/>
                </a:solidFill>
                <a:latin typeface="Aptos"/>
              </a:defRPr>
            </a:pPr>
            <a:r>
              <a:t>Interpretation question: Which measurements most clearly distinguish the clusters?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8 · CHOOSE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Calculate WSSE for several values of 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1  k_values = range(2, 9)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2  wsse_values = [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3      KMeans(n_clusters=k, random_state=10, n_init=10)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4      .fit(X_scaled).inertia_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5      for k in k_values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6 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Tests K values from 2 through 8.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2–6  Fits one K-means model for each K and stores its WSSE.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3  Uses the same seed and ten starts for fair comparison.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4  Extracts inertia_, scikit-learn's WSSE measure.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8 · CHOOSE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Draw the elbow plot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1  plt.figure(figsize=(7, 4))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2  plt.plot(k_values, wsse_values, marker="o")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3  plt.xlabel("Number of clusters (K)")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4  plt.ylabel("WSSE")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5  plt.title("Elbow Plot for K-means")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6  plt.xticks(list(k_values))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7  plt.show()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Creates the plotting area.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  Plots K against WSSE and marks each tested value.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3–5  Adds clear axis labels and a title.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6  Shows every tested K on the horizontal axis.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7  Displays the completed chart.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8 · CHOOSE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Interpret the elbow</a:t>
            </a:r>
          </a:p>
        </p:txBody>
      </p:sp>
      <p:pic>
        <p:nvPicPr>
          <p:cNvPr id="5" name="Picture 4" descr="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73152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6760" y="1554480"/>
            <a:ext cx="25603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100" b="1">
                <a:solidFill>
                  <a:srgbClr val="CC0000"/>
                </a:solidFill>
                <a:latin typeface="Aptos"/>
              </a:defRPr>
            </a:pPr>
            <a:r>
              <a:t>Look for the bend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148840"/>
            <a:ext cx="3154680" cy="25603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WSSE always decreases as K increases.</a:t>
            </a:r>
          </a:p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The improvement becomes much smaller after K = 3.</a:t>
            </a:r>
          </a:p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K = 3 is a reasonable balance between fit and simplicity.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4983480"/>
            <a:ext cx="3154680" cy="685800"/>
          </a:xfrm>
          <a:prstGeom prst="roundRect">
            <a:avLst/>
          </a:prstGeom>
          <a:solidFill>
            <a:srgbClr val="FFF4F4"/>
          </a:solidFill>
          <a:ln>
            <a:solidFill>
              <a:srgbClr val="2D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600" b="1">
                <a:solidFill>
                  <a:srgbClr val="2D64A0"/>
                </a:solidFill>
                <a:latin typeface="Aptos"/>
              </a:defRPr>
            </a:pPr>
            <a:r>
              <a:t>The elbow method is a judgment tool—not an automatic rule.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9 · VISUALIZE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Prepare the cluster centers for plotting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1  centers = scaler.inverse_transform(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2      kmeans.cluster_centers_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3  )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Creates centers in the original measurement units.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  cluster_centers_ contains the model's centers in scaled units.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1–3  inverse_transform converts 0–1 values back to centimeters.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9 · VISUALIZE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Plot observations and cluster centers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1  plt.figure(figsize=(8, 5))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2  plt.scatter(df["PETAL.L"], df["PETAL.W"],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3              c=df["Cluster"], cmap="viridis")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4  plt.scatter(centers[:, 2], centers[:, 3],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5              color="red", marker="X", s=200)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6  plt.xlabel("Petal length (cm)")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7  plt.ylabel("Petal width (cm)")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8  plt.title("K-means Clusters of Iris Flowers")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9  plt.colorbar(label="Cluster")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10  plt.show()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Creates the plotting area.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2–3  Plots each flower; color represents its assigned cluster.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4–5  Adds a large red X at each cluster center.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6–8  Adds labels and a descriptive title.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9  Explains the cluster colors.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10  Displays the plot.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9 · VISUALIZE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Interpret the cluster plot</a:t>
            </a:r>
          </a:p>
        </p:txBody>
      </p:sp>
      <p:pic>
        <p:nvPicPr>
          <p:cNvPr id="5" name="Picture 4" descr="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7498079" cy="44988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00200"/>
            <a:ext cx="2971800" cy="34747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One group has very short, narrow petals.</a:t>
            </a:r>
          </a:p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The other two groups overlap more closely.</a:t>
            </a:r>
          </a:p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Red X symbols represent the cluster centers.</a:t>
            </a:r>
          </a:p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This plot shows only two of the four model inputs.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5074920"/>
            <a:ext cx="3017520" cy="685800"/>
          </a:xfrm>
          <a:prstGeom prst="roundRect">
            <a:avLst/>
          </a:prstGeom>
          <a:solidFill>
            <a:srgbClr val="FFF4F4"/>
          </a:solidFill>
          <a:ln>
            <a:solidFill>
              <a:srgbClr val="2D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600" b="1">
                <a:solidFill>
                  <a:srgbClr val="2D64A0"/>
                </a:solidFill>
                <a:latin typeface="Aptos"/>
              </a:defRPr>
            </a:pPr>
            <a:r>
              <a:t>Do not judge a four-feature model from one two-dimensional view alone.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10 ·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Compare clusters with known species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1  pd.crosstab(df["Cluster"],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2              df["SPECIES"],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3              margins=True)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Places the discovered cluster numbers in rows.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  Places the known species labels in columns.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3  Adds row and column totals.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Note  SPECIES evaluates the result; it was not used to fit K-means.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10 ·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Cluster-to-species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1508760"/>
          <a:ext cx="7498079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615"/>
                <a:gridCol w="1499615"/>
                <a:gridCol w="1499615"/>
                <a:gridCol w="1499615"/>
                <a:gridCol w="1499619"/>
              </a:tblGrid>
              <a:tr h="612648"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Setosa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Versicolor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Virginica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All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</a:tr>
              <a:tr h="612648"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Cluster 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36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39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Cluster 1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</a:tr>
              <a:tr h="612648"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Cluster 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47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61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All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150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823960" y="1691640"/>
            <a:ext cx="2468880" cy="2286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Setosa is separated cleanly.</a:t>
            </a:r>
          </a:p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Versicolor and Virginica overlap.</a:t>
            </a:r>
          </a:p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Cluster numbers are arbitrary labels—not rankings.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983480"/>
            <a:ext cx="10287000" cy="685800"/>
          </a:xfrm>
          <a:prstGeom prst="roundRect">
            <a:avLst/>
          </a:prstGeom>
          <a:solidFill>
            <a:srgbClr val="FFF4F4"/>
          </a:solidFill>
          <a:ln>
            <a:solidFill>
              <a:srgbClr val="2D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600" b="1">
                <a:solidFill>
                  <a:srgbClr val="2D64A0"/>
                </a:solidFill>
                <a:latin typeface="Aptos"/>
              </a:defRPr>
            </a:pPr>
            <a:r>
              <a:t>Good clustering supports interpretation; it does not guarantee perfect class prediction.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274320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1">
                <a:solidFill>
                  <a:srgbClr val="FF6C6C"/>
                </a:solidFill>
                <a:latin typeface="Aptos"/>
              </a:defRPr>
            </a:pPr>
            <a:r>
              <a:t>GENERAL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77724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A repeatable clustering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94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FF6C6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810512"/>
            <a:ext cx="22860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Choose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2194560"/>
            <a:ext cx="42519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0">
                <a:solidFill>
                  <a:srgbClr val="C3CAD0"/>
                </a:solidFill>
                <a:latin typeface="Aptos"/>
              </a:defRPr>
            </a:pPr>
            <a:r>
              <a:t>Use variables that address the business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594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FF6C6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3044952"/>
            <a:ext cx="22860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Prepare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3429000"/>
            <a:ext cx="42519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0">
                <a:solidFill>
                  <a:srgbClr val="C3CAD0"/>
                </a:solidFill>
                <a:latin typeface="Aptos"/>
              </a:defRPr>
            </a:pPr>
            <a:r>
              <a:t>Handle missing values, outliers, text, skew, and scale.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97680"/>
            <a:ext cx="594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FF6C6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4279392"/>
            <a:ext cx="22860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Choose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4663440"/>
            <a:ext cx="42519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0">
                <a:solidFill>
                  <a:srgbClr val="C3CAD0"/>
                </a:solidFill>
                <a:latin typeface="Aptos"/>
              </a:defRPr>
            </a:pPr>
            <a:r>
              <a:t>Compare WSSE and use domain knowledge.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594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FF6C6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7" y="1810512"/>
            <a:ext cx="22860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Fit and 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7" y="2194560"/>
            <a:ext cx="42519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0">
                <a:solidFill>
                  <a:srgbClr val="C3CAD0"/>
                </a:solidFill>
                <a:latin typeface="Aptos"/>
              </a:defRPr>
            </a:pPr>
            <a:r>
              <a:t>Describe cluster size, centers, and characteristics.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063240"/>
            <a:ext cx="594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FF6C6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7" y="3044952"/>
            <a:ext cx="22860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Validate usefulness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7" y="3429000"/>
            <a:ext cx="42519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0">
                <a:solidFill>
                  <a:srgbClr val="C3CAD0"/>
                </a:solidFill>
                <a:latin typeface="Aptos"/>
              </a:defRPr>
            </a:pPr>
            <a:r>
              <a:t>Connect the groups back to the original question.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15000"/>
            <a:ext cx="1088136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Clustering is valuable when the groups lead to meaningful decisions.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TEACHING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Run the demo in Google Colab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486400" cy="32918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F252B"/>
                </a:solidFill>
                <a:latin typeface="Aptos"/>
              </a:defRPr>
            </a:pPr>
            <a:r>
              <a:t>•  Open the notebook using the Colab link below.</a:t>
            </a:r>
          </a:p>
          <a:p>
            <a:pPr>
              <a:spcAft>
                <a:spcPts val="1300"/>
              </a:spcAft>
              <a:defRPr sz="1900">
                <a:solidFill>
                  <a:srgbClr val="1F252B"/>
                </a:solidFill>
                <a:latin typeface="Aptos"/>
              </a:defRPr>
            </a:pPr>
            <a:r>
              <a:t>•  Keep UPLOAD_FILE = False to read from GitHub, or change it to True to upload a CSV.</a:t>
            </a:r>
          </a:p>
          <a:p>
            <a:pPr>
              <a:spcAft>
                <a:spcPts val="1300"/>
              </a:spcAft>
              <a:defRPr sz="1900">
                <a:solidFill>
                  <a:srgbClr val="1F252B"/>
                </a:solidFill>
                <a:latin typeface="Aptos"/>
              </a:defRPr>
            </a:pPr>
            <a:r>
              <a:t>•  Select Runtime → Run all.</a:t>
            </a:r>
          </a:p>
          <a:p>
            <a:pPr>
              <a:spcAft>
                <a:spcPts val="1300"/>
              </a:spcAft>
              <a:defRPr sz="1900">
                <a:solidFill>
                  <a:srgbClr val="1F252B"/>
                </a:solidFill>
                <a:latin typeface="Aptos"/>
              </a:defRPr>
            </a:pPr>
            <a:r>
              <a:t>•  Use File → Save a copy in Drive before editing or sharing with students.</a:t>
            </a:r>
          </a:p>
        </p:txBody>
      </p:sp>
      <p:sp>
        <p:nvSpPr>
          <p:cNvPr id="6" name="TextBox 5">
            <a:hlinkClick r:id="rId2"/>
          </p:cNvPr>
          <p:cNvSpPr txBox="1"/>
          <p:nvPr/>
        </p:nvSpPr>
        <p:spPr>
          <a:xfrm>
            <a:off x="6903720" y="1874519"/>
            <a:ext cx="4114800" cy="731520"/>
          </a:xfrm>
          <a:prstGeom prst="rect">
            <a:avLst/>
          </a:prstGeom>
          <a:solidFill>
            <a:srgbClr val="CC0000"/>
          </a:solidFill>
          <a:ln>
            <a:solidFill>
              <a:srgbClr val="990000"/>
            </a:solidFill>
          </a:ln>
        </p:spPr>
        <p:txBody>
          <a:bodyPr wrap="none" lIns="45720" rIns="45720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OPEN THE COLAB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880360"/>
            <a:ext cx="4754880" cy="10515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100" b="0">
                <a:solidFill>
                  <a:srgbClr val="2D64A0"/>
                </a:solidFill>
                <a:latin typeface="Aptos"/>
              </a:defRPr>
            </a:pPr>
            <a:r>
              <a:t>https://colab.research.google.com/github/leeexiaoming/web/blob/master/teaching/kmeans_clustering_iris_demo.ipynb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10515600" cy="731520"/>
          </a:xfrm>
          <a:prstGeom prst="roundRect">
            <a:avLst/>
          </a:prstGeom>
          <a:solidFill>
            <a:srgbClr val="FFF4F4"/>
          </a:solidFill>
          <a:ln>
            <a:solidFill>
              <a:srgbClr val="27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600" b="1">
                <a:solidFill>
                  <a:srgbClr val="27805C"/>
                </a:solidFill>
                <a:latin typeface="Aptos"/>
              </a:defRPr>
            </a:pPr>
            <a:r>
              <a:t>Teaching tip: pause before each output and ask students to predict what they expect to see.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